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57" r:id="rId2"/>
    <p:sldId id="278" r:id="rId3"/>
    <p:sldId id="279" r:id="rId4"/>
    <p:sldId id="275" r:id="rId5"/>
    <p:sldId id="281" r:id="rId6"/>
    <p:sldId id="282" r:id="rId7"/>
    <p:sldId id="276" r:id="rId8"/>
    <p:sldId id="260" r:id="rId9"/>
    <p:sldId id="259" r:id="rId10"/>
    <p:sldId id="262" r:id="rId11"/>
    <p:sldId id="261" r:id="rId12"/>
    <p:sldId id="264" r:id="rId13"/>
    <p:sldId id="265" r:id="rId14"/>
    <p:sldId id="271" r:id="rId15"/>
    <p:sldId id="283" r:id="rId16"/>
    <p:sldId id="272" r:id="rId17"/>
    <p:sldId id="274" r:id="rId18"/>
    <p:sldId id="273" r:id="rId19"/>
    <p:sldId id="284" r:id="rId20"/>
    <p:sldId id="285" r:id="rId21"/>
    <p:sldId id="263" r:id="rId22"/>
    <p:sldId id="269" r:id="rId23"/>
    <p:sldId id="27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46BBEF-6739-024E-B6C6-C8700DAE3B09}"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5B58AC-631E-DD4C-A1F0-1492C5D23C1F}" type="slidenum">
              <a:rPr lang="en-US" smtClean="0"/>
              <a:t>‹#›</a:t>
            </a:fld>
            <a:endParaRPr lang="en-US"/>
          </a:p>
        </p:txBody>
      </p:sp>
    </p:spTree>
    <p:extLst>
      <p:ext uri="{BB962C8B-B14F-4D97-AF65-F5344CB8AC3E}">
        <p14:creationId xmlns:p14="http://schemas.microsoft.com/office/powerpoint/2010/main" val="2885805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5B58AC-631E-DD4C-A1F0-1492C5D23C1F}" type="slidenum">
              <a:rPr lang="en-US" smtClean="0"/>
              <a:t>14</a:t>
            </a:fld>
            <a:endParaRPr lang="en-US"/>
          </a:p>
        </p:txBody>
      </p:sp>
    </p:spTree>
    <p:extLst>
      <p:ext uri="{BB962C8B-B14F-4D97-AF65-F5344CB8AC3E}">
        <p14:creationId xmlns:p14="http://schemas.microsoft.com/office/powerpoint/2010/main" val="2778820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6/21/2026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6/21/2026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6/21/2026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0EE51-BD19-DF0C-4AF1-375445615F81}"/>
              </a:ext>
            </a:extLst>
          </p:cNvPr>
          <p:cNvSpPr>
            <a:spLocks noGrp="1"/>
          </p:cNvSpPr>
          <p:nvPr>
            <p:ph type="title"/>
          </p:nvPr>
        </p:nvSpPr>
        <p:spPr/>
        <p:txBody>
          <a:bodyPr/>
          <a:lstStyle/>
          <a:p>
            <a:r>
              <a:rPr lang="en-IN" b="1" dirty="0"/>
              <a:t>Iris flower classification model </a:t>
            </a:r>
            <a:endParaRPr lang="en-US" b="1" dirty="0"/>
          </a:p>
        </p:txBody>
      </p:sp>
      <p:sp>
        <p:nvSpPr>
          <p:cNvPr id="9" name="Content Placeholder 8">
            <a:extLst>
              <a:ext uri="{FF2B5EF4-FFF2-40B4-BE49-F238E27FC236}">
                <a16:creationId xmlns:a16="http://schemas.microsoft.com/office/drawing/2014/main" id="{9B549D02-71BC-4CC3-CA3E-7EDDB1E2239D}"/>
              </a:ext>
            </a:extLst>
          </p:cNvPr>
          <p:cNvSpPr>
            <a:spLocks noGrp="1"/>
          </p:cNvSpPr>
          <p:nvPr>
            <p:ph idx="1"/>
          </p:nvPr>
        </p:nvSpPr>
        <p:spPr>
          <a:xfrm>
            <a:off x="1451579" y="2231631"/>
            <a:ext cx="9603275" cy="3450613"/>
          </a:xfrm>
        </p:spPr>
        <p:txBody>
          <a:bodyPr>
            <a:normAutofit/>
          </a:bodyPr>
          <a:lstStyle/>
          <a:p>
            <a:pPr marL="0" indent="0">
              <a:buNone/>
            </a:pPr>
            <a:r>
              <a:rPr lang="en-IN" dirty="0">
                <a:solidFill>
                  <a:schemeClr val="accent2"/>
                </a:solidFill>
              </a:rPr>
              <a:t>PRESENTED BY</a:t>
            </a:r>
          </a:p>
          <a:p>
            <a:pPr marL="0" indent="0">
              <a:buNone/>
            </a:pPr>
            <a:r>
              <a:rPr lang="en-IN" dirty="0">
                <a:solidFill>
                  <a:schemeClr val="accent2"/>
                </a:solidFill>
              </a:rPr>
              <a:t>STUDENT NAME : </a:t>
            </a:r>
            <a:r>
              <a:rPr lang="en-IN" b="1" dirty="0">
                <a:solidFill>
                  <a:schemeClr val="accent1">
                    <a:lumMod val="75000"/>
                  </a:schemeClr>
                </a:solidFill>
              </a:rPr>
              <a:t> DURGA PRASAD ANNAMDEVULA </a:t>
            </a:r>
            <a:endParaRPr lang="en-IN" dirty="0">
              <a:solidFill>
                <a:schemeClr val="accent2"/>
              </a:solidFill>
            </a:endParaRPr>
          </a:p>
          <a:p>
            <a:pPr marL="0" indent="0">
              <a:buNone/>
            </a:pPr>
            <a:r>
              <a:rPr lang="en-IN" dirty="0">
                <a:solidFill>
                  <a:schemeClr val="accent2"/>
                </a:solidFill>
              </a:rPr>
              <a:t>COLLEGE NAME :   Aditya degree college </a:t>
            </a:r>
            <a:r>
              <a:rPr lang="en-IN" dirty="0" err="1">
                <a:solidFill>
                  <a:schemeClr val="accent2"/>
                </a:solidFill>
              </a:rPr>
              <a:t>rajahumundry</a:t>
            </a:r>
            <a:r>
              <a:rPr lang="en-IN" dirty="0">
                <a:solidFill>
                  <a:schemeClr val="accent2"/>
                </a:solidFill>
              </a:rPr>
              <a:t> </a:t>
            </a:r>
          </a:p>
          <a:p>
            <a:pPr marL="0" indent="0">
              <a:buNone/>
            </a:pPr>
            <a:r>
              <a:rPr lang="en-IN" dirty="0">
                <a:solidFill>
                  <a:schemeClr val="accent2"/>
                </a:solidFill>
              </a:rPr>
              <a:t>DEPARTMENT :   BCA</a:t>
            </a:r>
          </a:p>
          <a:p>
            <a:pPr marL="0" indent="0">
              <a:buNone/>
            </a:pPr>
            <a:r>
              <a:rPr lang="en-IN" dirty="0">
                <a:solidFill>
                  <a:schemeClr val="accent2"/>
                </a:solidFill>
              </a:rPr>
              <a:t>EMAIL ID :  </a:t>
            </a:r>
            <a:r>
              <a:rPr lang="en-IN" dirty="0">
                <a:solidFill>
                  <a:schemeClr val="accent1"/>
                </a:solidFill>
              </a:rPr>
              <a:t>durgaprasadannamdevula41@gmail.com</a:t>
            </a:r>
            <a:endParaRPr lang="en-IN" dirty="0">
              <a:solidFill>
                <a:schemeClr val="accent2"/>
              </a:solidFill>
            </a:endParaRPr>
          </a:p>
          <a:p>
            <a:pPr marL="0" indent="0">
              <a:buNone/>
            </a:pPr>
            <a:r>
              <a:rPr lang="en-IN" dirty="0">
                <a:solidFill>
                  <a:schemeClr val="accent2"/>
                </a:solidFill>
              </a:rPr>
              <a:t>AICTE STUDENT ID:   AINSI_108527</a:t>
            </a:r>
          </a:p>
          <a:p>
            <a:endParaRPr lang="en-US" dirty="0"/>
          </a:p>
        </p:txBody>
      </p:sp>
      <p:pic>
        <p:nvPicPr>
          <p:cNvPr id="4" name="Picture 3">
            <a:extLst>
              <a:ext uri="{FF2B5EF4-FFF2-40B4-BE49-F238E27FC236}">
                <a16:creationId xmlns:a16="http://schemas.microsoft.com/office/drawing/2014/main" id="{3AB5341B-8E31-6DD4-A0E3-9A424D70780A}"/>
              </a:ext>
            </a:extLst>
          </p:cNvPr>
          <p:cNvPicPr>
            <a:picLocks noChangeAspect="1"/>
          </p:cNvPicPr>
          <p:nvPr/>
        </p:nvPicPr>
        <p:blipFill>
          <a:blip r:embed="rId2"/>
          <a:stretch>
            <a:fillRect/>
          </a:stretch>
        </p:blipFill>
        <p:spPr>
          <a:xfrm>
            <a:off x="8170858" y="2132711"/>
            <a:ext cx="2883996" cy="3549533"/>
          </a:xfrm>
          <a:prstGeom prst="rect">
            <a:avLst/>
          </a:prstGeom>
        </p:spPr>
      </p:pic>
    </p:spTree>
    <p:extLst>
      <p:ext uri="{BB962C8B-B14F-4D97-AF65-F5344CB8AC3E}">
        <p14:creationId xmlns:p14="http://schemas.microsoft.com/office/powerpoint/2010/main" val="1987592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6B6E-5DE5-8D00-B4E6-413FD9106F08}"/>
              </a:ext>
            </a:extLst>
          </p:cNvPr>
          <p:cNvSpPr>
            <a:spLocks noGrp="1"/>
          </p:cNvSpPr>
          <p:nvPr>
            <p:ph type="title"/>
          </p:nvPr>
        </p:nvSpPr>
        <p:spPr/>
        <p:txBody>
          <a:bodyPr/>
          <a:lstStyle/>
          <a:p>
            <a:r>
              <a:rPr lang="en-IN" i="1" dirty="0"/>
              <a:t>OUTLINE </a:t>
            </a:r>
            <a:endParaRPr lang="en-US" i="1" dirty="0"/>
          </a:p>
        </p:txBody>
      </p:sp>
      <p:sp>
        <p:nvSpPr>
          <p:cNvPr id="3" name="Content Placeholder 2">
            <a:extLst>
              <a:ext uri="{FF2B5EF4-FFF2-40B4-BE49-F238E27FC236}">
                <a16:creationId xmlns:a16="http://schemas.microsoft.com/office/drawing/2014/main" id="{A4B79994-59E1-4875-9A6F-69216056273C}"/>
              </a:ext>
            </a:extLst>
          </p:cNvPr>
          <p:cNvSpPr>
            <a:spLocks noGrp="1"/>
          </p:cNvSpPr>
          <p:nvPr>
            <p:ph idx="1"/>
          </p:nvPr>
        </p:nvSpPr>
        <p:spPr/>
        <p:txBody>
          <a:bodyPr>
            <a:normAutofit/>
          </a:bodyPr>
          <a:lstStyle/>
          <a:p>
            <a:r>
              <a:rPr lang="en-IN" dirty="0"/>
              <a:t>Introduction </a:t>
            </a:r>
          </a:p>
          <a:p>
            <a:r>
              <a:rPr lang="en-IN" dirty="0"/>
              <a:t>Data set</a:t>
            </a:r>
          </a:p>
          <a:p>
            <a:r>
              <a:rPr lang="en-IN" dirty="0"/>
              <a:t>Proposed system / solution </a:t>
            </a:r>
          </a:p>
          <a:p>
            <a:r>
              <a:rPr lang="en-IN" dirty="0"/>
              <a:t>System approach </a:t>
            </a:r>
          </a:p>
          <a:p>
            <a:r>
              <a:rPr lang="en-IN" dirty="0"/>
              <a:t>Classification models</a:t>
            </a:r>
          </a:p>
          <a:p>
            <a:r>
              <a:rPr lang="en-IN" dirty="0"/>
              <a:t>Algorithm and deployment </a:t>
            </a:r>
          </a:p>
          <a:p>
            <a:r>
              <a:rPr lang="en-IN" dirty="0"/>
              <a:t>Code</a:t>
            </a:r>
          </a:p>
          <a:p>
            <a:endParaRPr lang="en-US" dirty="0"/>
          </a:p>
        </p:txBody>
      </p:sp>
    </p:spTree>
    <p:extLst>
      <p:ext uri="{BB962C8B-B14F-4D97-AF65-F5344CB8AC3E}">
        <p14:creationId xmlns:p14="http://schemas.microsoft.com/office/powerpoint/2010/main" val="324391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66BDA-A3E4-7B70-4F16-F2C486BC6749}"/>
              </a:ext>
            </a:extLst>
          </p:cNvPr>
          <p:cNvSpPr>
            <a:spLocks noGrp="1"/>
          </p:cNvSpPr>
          <p:nvPr>
            <p:ph idx="1"/>
          </p:nvPr>
        </p:nvSpPr>
        <p:spPr/>
        <p:txBody>
          <a:bodyPr/>
          <a:lstStyle/>
          <a:p>
            <a:r>
              <a:rPr lang="en-IN" dirty="0"/>
              <a:t> Result</a:t>
            </a:r>
          </a:p>
          <a:p>
            <a:r>
              <a:rPr lang="en-IN" dirty="0"/>
              <a:t>Conclusion </a:t>
            </a:r>
          </a:p>
          <a:p>
            <a:r>
              <a:rPr lang="en-IN" dirty="0"/>
              <a:t>Future scope </a:t>
            </a:r>
          </a:p>
          <a:p>
            <a:endParaRPr lang="en-US" dirty="0"/>
          </a:p>
        </p:txBody>
      </p:sp>
    </p:spTree>
    <p:extLst>
      <p:ext uri="{BB962C8B-B14F-4D97-AF65-F5344CB8AC3E}">
        <p14:creationId xmlns:p14="http://schemas.microsoft.com/office/powerpoint/2010/main" val="2884848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FC667-95B5-F315-D85A-3F74C6A161F6}"/>
              </a:ext>
            </a:extLst>
          </p:cNvPr>
          <p:cNvSpPr>
            <a:spLocks noGrp="1"/>
          </p:cNvSpPr>
          <p:nvPr>
            <p:ph type="title"/>
          </p:nvPr>
        </p:nvSpPr>
        <p:spPr/>
        <p:txBody>
          <a:bodyPr>
            <a:normAutofit fontScale="90000"/>
          </a:bodyPr>
          <a:lstStyle/>
          <a:p>
            <a:br>
              <a:rPr lang="en-IN" dirty="0"/>
            </a:br>
            <a:r>
              <a:rPr lang="en-IN" dirty="0"/>
              <a:t>INTRODUCTION </a:t>
            </a:r>
            <a:br>
              <a:rPr lang="en-IN" dirty="0"/>
            </a:br>
            <a:endParaRPr lang="en-US" dirty="0"/>
          </a:p>
        </p:txBody>
      </p:sp>
      <p:sp>
        <p:nvSpPr>
          <p:cNvPr id="6" name="TextBox 5">
            <a:extLst>
              <a:ext uri="{FF2B5EF4-FFF2-40B4-BE49-F238E27FC236}">
                <a16:creationId xmlns:a16="http://schemas.microsoft.com/office/drawing/2014/main" id="{E56EBDF4-9098-1BC3-3551-AF58316BBDC8}"/>
              </a:ext>
            </a:extLst>
          </p:cNvPr>
          <p:cNvSpPr txBox="1"/>
          <p:nvPr/>
        </p:nvSpPr>
        <p:spPr>
          <a:xfrm>
            <a:off x="1666373" y="2322095"/>
            <a:ext cx="9603274" cy="1754326"/>
          </a:xfrm>
          <a:prstGeom prst="rect">
            <a:avLst/>
          </a:prstGeom>
          <a:noFill/>
        </p:spPr>
        <p:txBody>
          <a:bodyPr wrap="square" rtlCol="0">
            <a:spAutoFit/>
          </a:bodyPr>
          <a:lstStyle/>
          <a:p>
            <a:pPr marL="285750" indent="-285750" algn="l">
              <a:buFont typeface="Arial" panose="020B0604020202020204" pitchFamily="34" charset="0"/>
              <a:buChar char="•"/>
            </a:pPr>
            <a:r>
              <a:rPr lang="en-IN" dirty="0"/>
              <a:t>   The goal of this project is to create a model that can be accurately predict the species of an iris                          Flower based on It’s sepal length, sepal width, petal length and petal width.</a:t>
            </a:r>
          </a:p>
          <a:p>
            <a:pPr algn="l"/>
            <a:endParaRPr lang="en-IN" dirty="0"/>
          </a:p>
          <a:p>
            <a:pPr marL="285750" indent="-285750" algn="l">
              <a:buFont typeface="Arial" panose="020B0604020202020204" pitchFamily="34" charset="0"/>
              <a:buChar char="•"/>
            </a:pPr>
            <a:r>
              <a:rPr lang="en-IN" dirty="0"/>
              <a:t>In this we can building a machine learning model for iris flower classification and highlight the some of the key techniques used.</a:t>
            </a:r>
          </a:p>
          <a:p>
            <a:pPr algn="l"/>
            <a:endParaRPr lang="en-US" dirty="0"/>
          </a:p>
        </p:txBody>
      </p:sp>
    </p:spTree>
    <p:extLst>
      <p:ext uri="{BB962C8B-B14F-4D97-AF65-F5344CB8AC3E}">
        <p14:creationId xmlns:p14="http://schemas.microsoft.com/office/powerpoint/2010/main" val="3484565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15A4-DA60-B35D-2ECF-97011B1610E7}"/>
              </a:ext>
            </a:extLst>
          </p:cNvPr>
          <p:cNvSpPr>
            <a:spLocks noGrp="1"/>
          </p:cNvSpPr>
          <p:nvPr>
            <p:ph type="title"/>
          </p:nvPr>
        </p:nvSpPr>
        <p:spPr/>
        <p:txBody>
          <a:bodyPr/>
          <a:lstStyle/>
          <a:p>
            <a:r>
              <a:rPr lang="en-IN" b="1" dirty="0"/>
              <a:t>DATA SET</a:t>
            </a:r>
            <a:br>
              <a:rPr lang="en-IN" b="1" dirty="0"/>
            </a:br>
            <a:endParaRPr lang="en-US" b="1" dirty="0"/>
          </a:p>
        </p:txBody>
      </p:sp>
      <p:sp>
        <p:nvSpPr>
          <p:cNvPr id="3" name="Content Placeholder 2">
            <a:extLst>
              <a:ext uri="{FF2B5EF4-FFF2-40B4-BE49-F238E27FC236}">
                <a16:creationId xmlns:a16="http://schemas.microsoft.com/office/drawing/2014/main" id="{67D85BF9-0C43-BD1D-844F-3FEC9EC2BF0D}"/>
              </a:ext>
            </a:extLst>
          </p:cNvPr>
          <p:cNvSpPr>
            <a:spLocks noGrp="1"/>
          </p:cNvSpPr>
          <p:nvPr>
            <p:ph idx="1"/>
          </p:nvPr>
        </p:nvSpPr>
        <p:spPr/>
        <p:txBody>
          <a:bodyPr/>
          <a:lstStyle/>
          <a:p>
            <a:r>
              <a:rPr lang="en-IN" dirty="0"/>
              <a:t>The Iris Flower dataset is a classic dataset in machine learning that contains measurements for 150 iris flowers from three different species:</a:t>
            </a:r>
          </a:p>
          <a:p>
            <a:pPr marL="0" indent="0">
              <a:buNone/>
            </a:pPr>
            <a:r>
              <a:rPr lang="en-IN" dirty="0"/>
              <a:t>               </a:t>
            </a:r>
            <a:r>
              <a:rPr lang="en-IN" dirty="0" err="1"/>
              <a:t>Setosa</a:t>
            </a:r>
            <a:endParaRPr lang="en-IN" dirty="0"/>
          </a:p>
          <a:p>
            <a:pPr marL="0" indent="0">
              <a:buNone/>
            </a:pPr>
            <a:r>
              <a:rPr lang="en-IN" dirty="0"/>
              <a:t>                </a:t>
            </a:r>
            <a:r>
              <a:rPr lang="en-IN" dirty="0" err="1"/>
              <a:t>Versicolor</a:t>
            </a:r>
            <a:r>
              <a:rPr lang="en-IN" dirty="0"/>
              <a:t> </a:t>
            </a:r>
          </a:p>
          <a:p>
            <a:pPr marL="0" indent="0">
              <a:buNone/>
            </a:pPr>
            <a:r>
              <a:rPr lang="en-IN" dirty="0"/>
              <a:t>                </a:t>
            </a:r>
            <a:r>
              <a:rPr lang="en-IN" dirty="0" err="1"/>
              <a:t>Virginica</a:t>
            </a:r>
            <a:r>
              <a:rPr lang="en-IN" dirty="0"/>
              <a:t>              </a:t>
            </a:r>
            <a:endParaRPr lang="en-US" dirty="0"/>
          </a:p>
        </p:txBody>
      </p:sp>
    </p:spTree>
    <p:extLst>
      <p:ext uri="{BB962C8B-B14F-4D97-AF65-F5344CB8AC3E}">
        <p14:creationId xmlns:p14="http://schemas.microsoft.com/office/powerpoint/2010/main" val="260250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44F1-D0B2-9AD1-4342-CC76DFCA0ACD}"/>
              </a:ext>
            </a:extLst>
          </p:cNvPr>
          <p:cNvSpPr>
            <a:spLocks noGrp="1"/>
          </p:cNvSpPr>
          <p:nvPr>
            <p:ph idx="1"/>
          </p:nvPr>
        </p:nvSpPr>
        <p:spPr/>
        <p:txBody>
          <a:bodyPr/>
          <a:lstStyle/>
          <a:p>
            <a:r>
              <a:rPr lang="en-IN" dirty="0"/>
              <a:t>Each flower is described by four features :         </a:t>
            </a:r>
          </a:p>
          <a:p>
            <a:pPr marL="0" indent="0">
              <a:buNone/>
            </a:pPr>
            <a:r>
              <a:rPr lang="en-IN" dirty="0"/>
              <a:t>            Sepal length </a:t>
            </a:r>
          </a:p>
          <a:p>
            <a:pPr marL="0" indent="0">
              <a:buNone/>
            </a:pPr>
            <a:r>
              <a:rPr lang="en-IN" dirty="0"/>
              <a:t>            Sepal width</a:t>
            </a:r>
          </a:p>
          <a:p>
            <a:pPr marL="0" indent="0">
              <a:buNone/>
            </a:pPr>
            <a:r>
              <a:rPr lang="en-IN" dirty="0"/>
              <a:t>            Petal   length </a:t>
            </a:r>
          </a:p>
          <a:p>
            <a:pPr marL="0" indent="0">
              <a:buNone/>
            </a:pPr>
            <a:r>
              <a:rPr lang="en-IN" dirty="0"/>
              <a:t>            Petal  width</a:t>
            </a:r>
          </a:p>
          <a:p>
            <a:r>
              <a:rPr lang="en-IN" dirty="0"/>
              <a:t> The dataset is commonly used as a benchmark for machine learning Algorithms.</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912092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A0CC60-97B2-5761-1883-70070CA00C58}"/>
              </a:ext>
            </a:extLst>
          </p:cNvPr>
          <p:cNvPicPr>
            <a:picLocks noChangeAspect="1"/>
          </p:cNvPicPr>
          <p:nvPr/>
        </p:nvPicPr>
        <p:blipFill>
          <a:blip r:embed="rId2"/>
          <a:stretch>
            <a:fillRect/>
          </a:stretch>
        </p:blipFill>
        <p:spPr>
          <a:xfrm>
            <a:off x="1829135" y="2011326"/>
            <a:ext cx="8128000" cy="3710281"/>
          </a:xfrm>
          <a:prstGeom prst="rect">
            <a:avLst/>
          </a:prstGeom>
        </p:spPr>
      </p:pic>
      <p:sp>
        <p:nvSpPr>
          <p:cNvPr id="4" name="TextBox 3">
            <a:extLst>
              <a:ext uri="{FF2B5EF4-FFF2-40B4-BE49-F238E27FC236}">
                <a16:creationId xmlns:a16="http://schemas.microsoft.com/office/drawing/2014/main" id="{022C2204-C2B6-6A24-97B8-A45AE801C8A2}"/>
              </a:ext>
            </a:extLst>
          </p:cNvPr>
          <p:cNvSpPr txBox="1"/>
          <p:nvPr/>
        </p:nvSpPr>
        <p:spPr>
          <a:xfrm>
            <a:off x="2234865" y="3105834"/>
            <a:ext cx="6106026" cy="646331"/>
          </a:xfrm>
          <a:prstGeom prst="rect">
            <a:avLst/>
          </a:prstGeom>
          <a:noFill/>
        </p:spPr>
        <p:txBody>
          <a:bodyPr wrap="square">
            <a:spAutoFit/>
          </a:bodyPr>
          <a:lstStyle/>
          <a:p>
            <a:br>
              <a:rPr lang="en-IN" dirty="0"/>
            </a:br>
            <a:endParaRPr lang="en-US" dirty="0"/>
          </a:p>
        </p:txBody>
      </p:sp>
    </p:spTree>
    <p:extLst>
      <p:ext uri="{BB962C8B-B14F-4D97-AF65-F5344CB8AC3E}">
        <p14:creationId xmlns:p14="http://schemas.microsoft.com/office/powerpoint/2010/main" val="383626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B9C9-EA35-0352-9C48-9C0ABDD15E81}"/>
              </a:ext>
            </a:extLst>
          </p:cNvPr>
          <p:cNvSpPr>
            <a:spLocks noGrp="1"/>
          </p:cNvSpPr>
          <p:nvPr>
            <p:ph type="title"/>
          </p:nvPr>
        </p:nvSpPr>
        <p:spPr/>
        <p:txBody>
          <a:bodyPr/>
          <a:lstStyle/>
          <a:p>
            <a:r>
              <a:rPr lang="en-IN" b="1" dirty="0"/>
              <a:t>Proposed system </a:t>
            </a:r>
            <a:endParaRPr lang="en-US" b="1" dirty="0"/>
          </a:p>
        </p:txBody>
      </p:sp>
      <p:sp>
        <p:nvSpPr>
          <p:cNvPr id="5" name="Content Placeholder 4">
            <a:extLst>
              <a:ext uri="{FF2B5EF4-FFF2-40B4-BE49-F238E27FC236}">
                <a16:creationId xmlns:a16="http://schemas.microsoft.com/office/drawing/2014/main" id="{2D097A38-0889-BECB-AC0B-FFEE67EDFB62}"/>
              </a:ext>
            </a:extLst>
          </p:cNvPr>
          <p:cNvSpPr>
            <a:spLocks noGrp="1"/>
          </p:cNvSpPr>
          <p:nvPr>
            <p:ph idx="1"/>
          </p:nvPr>
        </p:nvSpPr>
        <p:spPr/>
        <p:txBody>
          <a:bodyPr/>
          <a:lstStyle/>
          <a:p>
            <a:r>
              <a:rPr lang="en-IN" dirty="0"/>
              <a:t>A typical system development approach for an Iris flower classification project involves several key stages: data collection and preparation, exploratory data analysis (EDA), model building, evaluation, and deployment. The goal is to train a machine learning model to accurately predict the Iris species based on measurements like sepal and petal length and width. </a:t>
            </a:r>
            <a:endParaRPr lang="en-US" dirty="0"/>
          </a:p>
        </p:txBody>
      </p:sp>
    </p:spTree>
    <p:extLst>
      <p:ext uri="{BB962C8B-B14F-4D97-AF65-F5344CB8AC3E}">
        <p14:creationId xmlns:p14="http://schemas.microsoft.com/office/powerpoint/2010/main" val="124761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1E94-F9E7-2E92-8945-519FEA91A088}"/>
              </a:ext>
            </a:extLst>
          </p:cNvPr>
          <p:cNvSpPr>
            <a:spLocks noGrp="1"/>
          </p:cNvSpPr>
          <p:nvPr>
            <p:ph type="title"/>
          </p:nvPr>
        </p:nvSpPr>
        <p:spPr/>
        <p:txBody>
          <a:bodyPr/>
          <a:lstStyle/>
          <a:p>
            <a:r>
              <a:rPr lang="en-IN" b="1" dirty="0"/>
              <a:t>System approach </a:t>
            </a:r>
            <a:endParaRPr lang="en-US" b="1" dirty="0"/>
          </a:p>
        </p:txBody>
      </p:sp>
      <p:sp>
        <p:nvSpPr>
          <p:cNvPr id="5" name="Content Placeholder 4">
            <a:extLst>
              <a:ext uri="{FF2B5EF4-FFF2-40B4-BE49-F238E27FC236}">
                <a16:creationId xmlns:a16="http://schemas.microsoft.com/office/drawing/2014/main" id="{09D994A4-51B8-35A9-63F5-EF378AD8D14F}"/>
              </a:ext>
            </a:extLst>
          </p:cNvPr>
          <p:cNvSpPr>
            <a:spLocks noGrp="1"/>
          </p:cNvSpPr>
          <p:nvPr>
            <p:ph idx="1"/>
          </p:nvPr>
        </p:nvSpPr>
        <p:spPr/>
        <p:txBody>
          <a:bodyPr>
            <a:normAutofit fontScale="85000" lnSpcReduction="20000"/>
          </a:bodyPr>
          <a:lstStyle/>
          <a:p>
            <a:pPr marL="457200" indent="-457200">
              <a:buFont typeface="+mj-lt"/>
              <a:buAutoNum type="arabicPeriod"/>
            </a:pPr>
            <a:r>
              <a:rPr lang="en-IN" dirty="0"/>
              <a:t>Data Preparation: Load the Iris dataset and split it into training and testing sets. 
Feature Engineering: Explore the dataset to understand the relationships between features and the target variable (species). 
Model Selection: Choose an appropriate classification algorithm based on the nature of the data and the desired performance. 
Model Training: Train the selected model on the training data. 
Model Evaluation: Evaluate the model’s performance on the testing data using metrics like accuracy, precision, recall, and F1-score. 
</a:t>
            </a:r>
            <a:r>
              <a:rPr lang="en-IN" dirty="0" err="1"/>
              <a:t>Hyperparameter</a:t>
            </a:r>
            <a:r>
              <a:rPr lang="en-IN" dirty="0"/>
              <a:t> Tuning: Optimize the model’s parameters to improve its performance. 
Prediction: Use the trained model to predict the species of new, unseen iris flower samples. </a:t>
            </a:r>
          </a:p>
          <a:p>
            <a:endParaRPr lang="en-IN" dirty="0"/>
          </a:p>
          <a:p>
            <a:endParaRPr lang="en-IN" dirty="0"/>
          </a:p>
          <a:p>
            <a:endParaRPr lang="en-US" dirty="0"/>
          </a:p>
        </p:txBody>
      </p:sp>
    </p:spTree>
    <p:extLst>
      <p:ext uri="{BB962C8B-B14F-4D97-AF65-F5344CB8AC3E}">
        <p14:creationId xmlns:p14="http://schemas.microsoft.com/office/powerpoint/2010/main" val="79365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E6-AD49-5152-6B9A-FB3FDD37B623}"/>
              </a:ext>
            </a:extLst>
          </p:cNvPr>
          <p:cNvSpPr>
            <a:spLocks noGrp="1"/>
          </p:cNvSpPr>
          <p:nvPr>
            <p:ph type="title"/>
          </p:nvPr>
        </p:nvSpPr>
        <p:spPr/>
        <p:txBody>
          <a:bodyPr/>
          <a:lstStyle/>
          <a:p>
            <a:r>
              <a:rPr lang="en-IN" b="1" dirty="0"/>
              <a:t>Classification model </a:t>
            </a:r>
            <a:endParaRPr lang="en-US" b="1" dirty="0"/>
          </a:p>
        </p:txBody>
      </p:sp>
      <p:pic>
        <p:nvPicPr>
          <p:cNvPr id="4" name="Content Placeholder 3">
            <a:extLst>
              <a:ext uri="{FF2B5EF4-FFF2-40B4-BE49-F238E27FC236}">
                <a16:creationId xmlns:a16="http://schemas.microsoft.com/office/drawing/2014/main" id="{260C6496-2F14-9018-6838-9F15947A2870}"/>
              </a:ext>
            </a:extLst>
          </p:cNvPr>
          <p:cNvPicPr>
            <a:picLocks noGrp="1" noChangeAspect="1"/>
          </p:cNvPicPr>
          <p:nvPr>
            <p:ph idx="1"/>
          </p:nvPr>
        </p:nvPicPr>
        <p:blipFill>
          <a:blip r:embed="rId2"/>
          <a:stretch>
            <a:fillRect/>
          </a:stretch>
        </p:blipFill>
        <p:spPr>
          <a:xfrm>
            <a:off x="3953404" y="2016125"/>
            <a:ext cx="4599517" cy="3449638"/>
          </a:xfrm>
        </p:spPr>
      </p:pic>
    </p:spTree>
    <p:extLst>
      <p:ext uri="{BB962C8B-B14F-4D97-AF65-F5344CB8AC3E}">
        <p14:creationId xmlns:p14="http://schemas.microsoft.com/office/powerpoint/2010/main" val="3986866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2F6B8-C3FA-5A24-ACAF-255B63CC92EC}"/>
              </a:ext>
            </a:extLst>
          </p:cNvPr>
          <p:cNvSpPr>
            <a:spLocks noGrp="1"/>
          </p:cNvSpPr>
          <p:nvPr>
            <p:ph type="title"/>
          </p:nvPr>
        </p:nvSpPr>
        <p:spPr/>
        <p:txBody>
          <a:bodyPr/>
          <a:lstStyle/>
          <a:p>
            <a:r>
              <a:rPr lang="en-IN" b="1" dirty="0"/>
              <a:t>Algorithms and deployment </a:t>
            </a:r>
            <a:endParaRPr lang="en-US" b="1" dirty="0"/>
          </a:p>
        </p:txBody>
      </p:sp>
      <p:sp>
        <p:nvSpPr>
          <p:cNvPr id="3" name="Content Placeholder 2">
            <a:extLst>
              <a:ext uri="{FF2B5EF4-FFF2-40B4-BE49-F238E27FC236}">
                <a16:creationId xmlns:a16="http://schemas.microsoft.com/office/drawing/2014/main" id="{350C48A2-BF2F-B2FD-766B-16AC64AA4CA4}"/>
              </a:ext>
            </a:extLst>
          </p:cNvPr>
          <p:cNvSpPr>
            <a:spLocks noGrp="1"/>
          </p:cNvSpPr>
          <p:nvPr>
            <p:ph idx="1"/>
          </p:nvPr>
        </p:nvSpPr>
        <p:spPr/>
        <p:txBody>
          <a:bodyPr>
            <a:normAutofit/>
          </a:bodyPr>
          <a:lstStyle/>
          <a:p>
            <a:r>
              <a:rPr lang="en-IN" dirty="0"/>
              <a:t>For the Iris flower classification project, suitable algorithms include K-Nearest Neighbours (KNN), Logistic Regression, Support Vector Machines (SVM), and Decision Trees</a:t>
            </a:r>
          </a:p>
          <a:p>
            <a:r>
              <a:rPr lang="en-IN" dirty="0"/>
              <a:t>Deployment: Implement the trained model in production to demonstrate the viability of the model in iris flower classification tasks. For the implementation of iris flower classification using machine learning, we utilized the renowned Iris dataset available in the UCI Machine Learning Repository.</a:t>
            </a:r>
          </a:p>
          <a:p>
            <a:endParaRPr lang="en-IN" dirty="0"/>
          </a:p>
          <a:p>
            <a:endParaRPr lang="en-US" dirty="0"/>
          </a:p>
        </p:txBody>
      </p:sp>
    </p:spTree>
    <p:extLst>
      <p:ext uri="{BB962C8B-B14F-4D97-AF65-F5344CB8AC3E}">
        <p14:creationId xmlns:p14="http://schemas.microsoft.com/office/powerpoint/2010/main" val="2691231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B1D97-392E-AA8F-CA40-C1EF821D488C}"/>
              </a:ext>
            </a:extLst>
          </p:cNvPr>
          <p:cNvSpPr>
            <a:spLocks noGrp="1"/>
          </p:cNvSpPr>
          <p:nvPr>
            <p:ph idx="1"/>
          </p:nvPr>
        </p:nvSpPr>
        <p:spPr>
          <a:xfrm>
            <a:off x="1451579" y="2015733"/>
            <a:ext cx="9603275" cy="3747394"/>
          </a:xfrm>
        </p:spPr>
        <p:txBody>
          <a:bodyPr>
            <a:normAutofit fontScale="92500" lnSpcReduction="20000"/>
          </a:bodyPr>
          <a:lstStyle/>
          <a:p>
            <a:pPr marL="0" indent="0">
              <a:buNone/>
            </a:pPr>
            <a:r>
              <a:rPr lang="en-IN" dirty="0"/>
              <a:t>From </a:t>
            </a:r>
            <a:r>
              <a:rPr lang="en-IN" dirty="0" err="1"/>
              <a:t>sklearn.datasets</a:t>
            </a:r>
            <a:r>
              <a:rPr lang="en-IN" dirty="0"/>
              <a:t> import </a:t>
            </a:r>
            <a:r>
              <a:rPr lang="en-IN" dirty="0" err="1"/>
              <a:t>load_iris</a:t>
            </a:r>
            <a:r>
              <a:rPr lang="en-IN" dirty="0"/>
              <a:t>
from </a:t>
            </a:r>
            <a:r>
              <a:rPr lang="en-IN" dirty="0" err="1"/>
              <a:t>sklearn.model_selection</a:t>
            </a:r>
            <a:r>
              <a:rPr lang="en-IN" dirty="0"/>
              <a:t> import </a:t>
            </a:r>
            <a:r>
              <a:rPr lang="en-IN" dirty="0" err="1"/>
              <a:t>train_test_split</a:t>
            </a:r>
            <a:r>
              <a:rPr lang="en-IN" dirty="0"/>
              <a:t>
from </a:t>
            </a:r>
            <a:r>
              <a:rPr lang="en-IN" dirty="0" err="1"/>
              <a:t>sklearn.ensemble</a:t>
            </a:r>
            <a:r>
              <a:rPr lang="en-IN" dirty="0"/>
              <a:t> import </a:t>
            </a:r>
            <a:r>
              <a:rPr lang="en-IN" dirty="0" err="1"/>
              <a:t>RandomForestClassifier</a:t>
            </a:r>
            <a:r>
              <a:rPr lang="en-IN" dirty="0"/>
              <a:t>
from </a:t>
            </a:r>
            <a:r>
              <a:rPr lang="en-IN" dirty="0" err="1"/>
              <a:t>sklearn.metrics</a:t>
            </a:r>
            <a:r>
              <a:rPr lang="en-IN" dirty="0"/>
              <a:t> import </a:t>
            </a:r>
            <a:r>
              <a:rPr lang="en-IN" dirty="0" err="1"/>
              <a:t>classification_report</a:t>
            </a:r>
            <a:r>
              <a:rPr lang="en-IN" dirty="0"/>
              <a:t>
Load Iris dataset
iris = </a:t>
            </a:r>
            <a:r>
              <a:rPr lang="en-IN" dirty="0" err="1"/>
              <a:t>load_iris</a:t>
            </a:r>
            <a:r>
              <a:rPr lang="en-IN" dirty="0"/>
              <a:t>()
X = </a:t>
            </a:r>
            <a:r>
              <a:rPr lang="en-IN" dirty="0" err="1"/>
              <a:t>iris.data</a:t>
            </a:r>
            <a:r>
              <a:rPr lang="en-IN" dirty="0"/>
              <a:t>
y = </a:t>
            </a:r>
            <a:r>
              <a:rPr lang="en-IN" dirty="0" err="1"/>
              <a:t>iris.target</a:t>
            </a:r>
            <a:endParaRPr lang="en-US" dirty="0"/>
          </a:p>
        </p:txBody>
      </p:sp>
      <p:sp>
        <p:nvSpPr>
          <p:cNvPr id="5" name="Title 4">
            <a:extLst>
              <a:ext uri="{FF2B5EF4-FFF2-40B4-BE49-F238E27FC236}">
                <a16:creationId xmlns:a16="http://schemas.microsoft.com/office/drawing/2014/main" id="{15EF9E0C-7EA4-60D9-B02D-0EC126E4475A}"/>
              </a:ext>
            </a:extLst>
          </p:cNvPr>
          <p:cNvSpPr>
            <a:spLocks noGrp="1"/>
          </p:cNvSpPr>
          <p:nvPr>
            <p:ph type="title"/>
          </p:nvPr>
        </p:nvSpPr>
        <p:spPr/>
        <p:txBody>
          <a:bodyPr/>
          <a:lstStyle/>
          <a:p>
            <a:r>
              <a:rPr lang="en-IN" b="1" dirty="0"/>
              <a:t>Code</a:t>
            </a:r>
            <a:br>
              <a:rPr lang="en-IN" b="1" dirty="0"/>
            </a:br>
            <a:endParaRPr lang="en-US" b="1" dirty="0"/>
          </a:p>
        </p:txBody>
      </p:sp>
    </p:spTree>
    <p:extLst>
      <p:ext uri="{BB962C8B-B14F-4D97-AF65-F5344CB8AC3E}">
        <p14:creationId xmlns:p14="http://schemas.microsoft.com/office/powerpoint/2010/main" val="2587715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0B818-0BBB-830B-C2B8-21DD0F7B8FFC}"/>
              </a:ext>
            </a:extLst>
          </p:cNvPr>
          <p:cNvSpPr>
            <a:spLocks noGrp="1"/>
          </p:cNvSpPr>
          <p:nvPr>
            <p:ph idx="1"/>
          </p:nvPr>
        </p:nvSpPr>
        <p:spPr>
          <a:xfrm>
            <a:off x="1294362" y="1853754"/>
            <a:ext cx="9603275" cy="3450613"/>
          </a:xfrm>
        </p:spPr>
        <p:txBody>
          <a:bodyPr>
            <a:normAutofit fontScale="85000" lnSpcReduction="20000"/>
          </a:bodyPr>
          <a:lstStyle/>
          <a:p>
            <a:pPr marL="0" indent="0">
              <a:buNone/>
            </a:pPr>
            <a:r>
              <a:rPr lang="en-IN" dirty="0"/>
              <a:t> Split the data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
    X, y, </a:t>
            </a:r>
            <a:r>
              <a:rPr lang="en-IN" dirty="0" err="1"/>
              <a:t>test_size</a:t>
            </a:r>
            <a:r>
              <a:rPr lang="en-IN" dirty="0"/>
              <a:t>=0.2, </a:t>
            </a:r>
            <a:r>
              <a:rPr lang="en-IN" dirty="0" err="1"/>
              <a:t>random_state</a:t>
            </a:r>
            <a:r>
              <a:rPr lang="en-IN" dirty="0"/>
              <a:t>=42
)
Train a Random Forest model
model = </a:t>
            </a:r>
            <a:r>
              <a:rPr lang="en-IN" dirty="0" err="1"/>
              <a:t>RandomForestClassifier</a:t>
            </a:r>
            <a:r>
              <a:rPr lang="en-IN" dirty="0"/>
              <a:t>()
</a:t>
            </a:r>
            <a:r>
              <a:rPr lang="en-IN" dirty="0" err="1"/>
              <a:t>model.fit</a:t>
            </a:r>
            <a:r>
              <a:rPr lang="en-IN" dirty="0"/>
              <a:t>(</a:t>
            </a:r>
            <a:r>
              <a:rPr lang="en-IN" dirty="0" err="1"/>
              <a:t>X_train</a:t>
            </a:r>
            <a:r>
              <a:rPr lang="en-IN" dirty="0"/>
              <a:t>, </a:t>
            </a:r>
            <a:r>
              <a:rPr lang="en-IN" dirty="0" err="1"/>
              <a:t>y_train</a:t>
            </a:r>
            <a:r>
              <a:rPr lang="en-IN" dirty="0"/>
              <a:t>)
</a:t>
            </a:r>
          </a:p>
          <a:p>
            <a:pPr marL="0" indent="0">
              <a:buNone/>
            </a:pPr>
            <a:endParaRPr lang="en-US" dirty="0"/>
          </a:p>
        </p:txBody>
      </p:sp>
    </p:spTree>
    <p:extLst>
      <p:ext uri="{BB962C8B-B14F-4D97-AF65-F5344CB8AC3E}">
        <p14:creationId xmlns:p14="http://schemas.microsoft.com/office/powerpoint/2010/main" val="1517783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2AA37-C0C4-3A31-5739-1F0D4CDB9F6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86AF821-170B-AC4F-6B72-734B617D1A38}"/>
              </a:ext>
            </a:extLst>
          </p:cNvPr>
          <p:cNvSpPr>
            <a:spLocks noGrp="1"/>
          </p:cNvSpPr>
          <p:nvPr>
            <p:ph idx="1"/>
          </p:nvPr>
        </p:nvSpPr>
        <p:spPr/>
        <p:txBody>
          <a:bodyPr/>
          <a:lstStyle/>
          <a:p>
            <a:pPr marL="0" indent="0">
              <a:buNone/>
            </a:pPr>
            <a:r>
              <a:rPr lang="en-IN" dirty="0"/>
              <a:t>Make predictions
</a:t>
            </a:r>
            <a:r>
              <a:rPr lang="en-IN" dirty="0" err="1"/>
              <a:t>y_pred</a:t>
            </a:r>
            <a:r>
              <a:rPr lang="en-IN" dirty="0"/>
              <a:t> = </a:t>
            </a:r>
            <a:r>
              <a:rPr lang="en-IN" dirty="0" err="1"/>
              <a:t>model.predict</a:t>
            </a:r>
            <a:r>
              <a:rPr lang="en-IN" dirty="0"/>
              <a:t>(</a:t>
            </a:r>
            <a:r>
              <a:rPr lang="en-IN" dirty="0" err="1"/>
              <a:t>X_test</a:t>
            </a:r>
            <a:r>
              <a:rPr lang="en-IN" dirty="0"/>
              <a:t>)
</a:t>
            </a:r>
          </a:p>
          <a:p>
            <a:endParaRPr lang="en-US" dirty="0"/>
          </a:p>
        </p:txBody>
      </p:sp>
    </p:spTree>
    <p:extLst>
      <p:ext uri="{BB962C8B-B14F-4D97-AF65-F5344CB8AC3E}">
        <p14:creationId xmlns:p14="http://schemas.microsoft.com/office/powerpoint/2010/main" val="4206882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119D-BA84-7BC0-3C2D-322FFCC750D4}"/>
              </a:ext>
            </a:extLst>
          </p:cNvPr>
          <p:cNvSpPr>
            <a:spLocks noGrp="1"/>
          </p:cNvSpPr>
          <p:nvPr>
            <p:ph type="title"/>
          </p:nvPr>
        </p:nvSpPr>
        <p:spPr/>
        <p:txBody>
          <a:bodyPr/>
          <a:lstStyle/>
          <a:p>
            <a:br>
              <a:rPr lang="en-IN" dirty="0"/>
            </a:br>
            <a:r>
              <a:rPr lang="en-IN" dirty="0"/>
              <a:t>RESULT</a:t>
            </a:r>
            <a:endParaRPr lang="en-US" dirty="0"/>
          </a:p>
        </p:txBody>
      </p:sp>
      <p:sp>
        <p:nvSpPr>
          <p:cNvPr id="3" name="Content Placeholder 2">
            <a:extLst>
              <a:ext uri="{FF2B5EF4-FFF2-40B4-BE49-F238E27FC236}">
                <a16:creationId xmlns:a16="http://schemas.microsoft.com/office/drawing/2014/main" id="{73189B3E-8059-DD5D-9A4B-357FD5692628}"/>
              </a:ext>
            </a:extLst>
          </p:cNvPr>
          <p:cNvSpPr>
            <a:spLocks noGrp="1"/>
          </p:cNvSpPr>
          <p:nvPr>
            <p:ph idx="1"/>
          </p:nvPr>
        </p:nvSpPr>
        <p:spPr/>
        <p:txBody>
          <a:bodyPr/>
          <a:lstStyle/>
          <a:p>
            <a:pPr marL="0" indent="0">
              <a:buNone/>
            </a:pPr>
            <a:r>
              <a:rPr lang="en-IN" dirty="0"/>
              <a:t>Output the results </a:t>
            </a:r>
          </a:p>
          <a:p>
            <a:pPr marL="0" indent="0">
              <a:buNone/>
            </a:pPr>
            <a:r>
              <a:rPr lang="en-IN" dirty="0"/>
              <a:t>Print(“Classification Report :\n”)</a:t>
            </a:r>
          </a:p>
          <a:p>
            <a:pPr marL="0" indent="0">
              <a:buNone/>
            </a:pPr>
            <a:r>
              <a:rPr lang="en-IN" dirty="0"/>
              <a:t>Print (classification _ report( y test , y </a:t>
            </a:r>
            <a:r>
              <a:rPr lang="en-IN" dirty="0" err="1"/>
              <a:t>pred</a:t>
            </a:r>
            <a:r>
              <a:rPr lang="en-IN" dirty="0"/>
              <a:t>, target names = iris. </a:t>
            </a:r>
            <a:r>
              <a:rPr lang="en-IN" dirty="0" err="1"/>
              <a:t>target_names</a:t>
            </a:r>
            <a:r>
              <a:rPr lang="en-IN" dirty="0"/>
              <a:t>))</a:t>
            </a:r>
          </a:p>
          <a:p>
            <a:endParaRPr lang="en-US" dirty="0"/>
          </a:p>
        </p:txBody>
      </p:sp>
    </p:spTree>
    <p:extLst>
      <p:ext uri="{BB962C8B-B14F-4D97-AF65-F5344CB8AC3E}">
        <p14:creationId xmlns:p14="http://schemas.microsoft.com/office/powerpoint/2010/main" val="131551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11FC1E-13EA-936E-D429-2D52B2303D38}"/>
              </a:ext>
            </a:extLst>
          </p:cNvPr>
          <p:cNvSpPr>
            <a:spLocks noGrp="1"/>
          </p:cNvSpPr>
          <p:nvPr>
            <p:ph idx="1"/>
          </p:nvPr>
        </p:nvSpPr>
        <p:spPr>
          <a:xfrm>
            <a:off x="1451579" y="2015732"/>
            <a:ext cx="9603276" cy="3450613"/>
          </a:xfrm>
        </p:spPr>
        <p:txBody>
          <a:bodyPr>
            <a:normAutofit fontScale="85000" lnSpcReduction="20000"/>
          </a:bodyPr>
          <a:lstStyle/>
          <a:p>
            <a:pPr marL="0" indent="0">
              <a:buNone/>
            </a:pPr>
            <a:r>
              <a:rPr lang="en-IN" dirty="0"/>
              <a:t>Classification Report:</a:t>
            </a:r>
          </a:p>
          <a:p>
            <a:pPr marL="0" indent="0">
              <a:buNone/>
            </a:pPr>
            <a:r>
              <a:rPr lang="en-IN" dirty="0"/>
              <a:t>
precision    recall  f1-score   support</a:t>
            </a:r>
          </a:p>
          <a:p>
            <a:pPr marL="0" indent="0">
              <a:buNone/>
            </a:pPr>
            <a:r>
              <a:rPr lang="en-IN" dirty="0"/>
              <a:t>
</a:t>
            </a:r>
            <a:r>
              <a:rPr lang="en-IN" dirty="0" err="1"/>
              <a:t>setosa</a:t>
            </a:r>
            <a:r>
              <a:rPr lang="en-IN" dirty="0"/>
              <a:t>       1.00      1.00      1.00        10</a:t>
            </a:r>
          </a:p>
          <a:p>
            <a:pPr marL="0" indent="0">
              <a:buNone/>
            </a:pPr>
            <a:r>
              <a:rPr lang="en-IN" dirty="0"/>
              <a:t>
</a:t>
            </a:r>
            <a:r>
              <a:rPr lang="en-IN" dirty="0" err="1"/>
              <a:t>versicolor</a:t>
            </a:r>
            <a:r>
              <a:rPr lang="en-IN" dirty="0"/>
              <a:t>       1.00      0.90      0.95        10</a:t>
            </a:r>
          </a:p>
          <a:p>
            <a:pPr marL="0" indent="0">
              <a:buNone/>
            </a:pPr>
            <a:r>
              <a:rPr lang="en-IN" dirty="0"/>
              <a:t>
</a:t>
            </a:r>
            <a:r>
              <a:rPr lang="en-IN" dirty="0" err="1"/>
              <a:t>virginica</a:t>
            </a:r>
            <a:r>
              <a:rPr lang="en-IN" dirty="0"/>
              <a:t>       0.91      1.00      0.95        </a:t>
            </a:r>
          </a:p>
          <a:p>
            <a:pPr marL="0" indent="0">
              <a:buNone/>
            </a:pPr>
            <a:endParaRPr lang="en-US" dirty="0"/>
          </a:p>
        </p:txBody>
      </p:sp>
      <p:sp>
        <p:nvSpPr>
          <p:cNvPr id="5" name="Title 4">
            <a:extLst>
              <a:ext uri="{FF2B5EF4-FFF2-40B4-BE49-F238E27FC236}">
                <a16:creationId xmlns:a16="http://schemas.microsoft.com/office/drawing/2014/main" id="{F9F8A518-314C-0685-9E5B-47B0739126A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74297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31417-1E31-67A6-D879-33165928B65A}"/>
              </a:ext>
            </a:extLst>
          </p:cNvPr>
          <p:cNvSpPr>
            <a:spLocks noGrp="1"/>
          </p:cNvSpPr>
          <p:nvPr>
            <p:ph idx="1"/>
          </p:nvPr>
        </p:nvSpPr>
        <p:spPr>
          <a:xfrm>
            <a:off x="1228995" y="764226"/>
            <a:ext cx="9603275" cy="3079641"/>
          </a:xfrm>
        </p:spPr>
        <p:txBody>
          <a:bodyPr/>
          <a:lstStyle/>
          <a:p>
            <a:pPr marL="0" indent="0">
              <a:buNone/>
            </a:pPr>
            <a:r>
              <a:rPr lang="en-IN" dirty="0"/>
              <a:t>    </a:t>
            </a:r>
          </a:p>
          <a:p>
            <a:endParaRPr lang="en-US" dirty="0"/>
          </a:p>
        </p:txBody>
      </p:sp>
      <p:sp>
        <p:nvSpPr>
          <p:cNvPr id="5" name="TextBox 4">
            <a:extLst>
              <a:ext uri="{FF2B5EF4-FFF2-40B4-BE49-F238E27FC236}">
                <a16:creationId xmlns:a16="http://schemas.microsoft.com/office/drawing/2014/main" id="{411CD613-1325-2A34-6374-B06F3C4B4A5E}"/>
              </a:ext>
            </a:extLst>
          </p:cNvPr>
          <p:cNvSpPr txBox="1"/>
          <p:nvPr/>
        </p:nvSpPr>
        <p:spPr>
          <a:xfrm>
            <a:off x="1585159" y="2521621"/>
            <a:ext cx="6106026" cy="2031325"/>
          </a:xfrm>
          <a:prstGeom prst="rect">
            <a:avLst/>
          </a:prstGeom>
          <a:noFill/>
        </p:spPr>
        <p:txBody>
          <a:bodyPr wrap="square">
            <a:spAutoFit/>
          </a:bodyPr>
          <a:lstStyle/>
          <a:p>
            <a:r>
              <a:rPr lang="en-IN" dirty="0"/>
              <a:t>Accuracy                           0.97           30
macro </a:t>
            </a:r>
            <a:r>
              <a:rPr lang="en-IN" dirty="0" err="1"/>
              <a:t>avg</a:t>
            </a:r>
            <a:r>
              <a:rPr lang="en-IN"/>
              <a:t>             </a:t>
            </a:r>
            <a:r>
              <a:rPr lang="en-IN" dirty="0"/>
              <a:t>0.97      0.97      0.97        30
weighted </a:t>
            </a:r>
            <a:r>
              <a:rPr lang="en-IN" dirty="0" err="1"/>
              <a:t>avg</a:t>
            </a:r>
            <a:r>
              <a:rPr lang="en-IN" dirty="0"/>
              <a:t>         0.97      0.97      0.97        30
This shows the model has about 97% accuracy.
</a:t>
            </a:r>
            <a:endParaRPr lang="en-US" dirty="0"/>
          </a:p>
        </p:txBody>
      </p:sp>
    </p:spTree>
    <p:extLst>
      <p:ext uri="{BB962C8B-B14F-4D97-AF65-F5344CB8AC3E}">
        <p14:creationId xmlns:p14="http://schemas.microsoft.com/office/powerpoint/2010/main" val="3091441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BCA3B80-3B31-4AB0-C35F-915EC6718C70}"/>
              </a:ext>
            </a:extLst>
          </p:cNvPr>
          <p:cNvPicPr>
            <a:picLocks noGrp="1" noChangeAspect="1"/>
          </p:cNvPicPr>
          <p:nvPr>
            <p:ph idx="1"/>
          </p:nvPr>
        </p:nvPicPr>
        <p:blipFill>
          <a:blip r:embed="rId2"/>
          <a:stretch>
            <a:fillRect/>
          </a:stretch>
        </p:blipFill>
        <p:spPr>
          <a:xfrm>
            <a:off x="5123528" y="1949116"/>
            <a:ext cx="2303155" cy="3516647"/>
          </a:xfrm>
        </p:spPr>
      </p:pic>
    </p:spTree>
    <p:extLst>
      <p:ext uri="{BB962C8B-B14F-4D97-AF65-F5344CB8AC3E}">
        <p14:creationId xmlns:p14="http://schemas.microsoft.com/office/powerpoint/2010/main" val="338777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92C3-06E0-31BB-F443-83A77299D8D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C4002783-3277-2FD3-020E-CDAA03772F65}"/>
              </a:ext>
            </a:extLst>
          </p:cNvPr>
          <p:cNvPicPr>
            <a:picLocks noGrp="1" noChangeAspect="1"/>
          </p:cNvPicPr>
          <p:nvPr>
            <p:ph idx="1"/>
          </p:nvPr>
        </p:nvPicPr>
        <p:blipFill>
          <a:blip r:embed="rId2"/>
          <a:stretch>
            <a:fillRect/>
          </a:stretch>
        </p:blipFill>
        <p:spPr>
          <a:xfrm>
            <a:off x="1597886" y="1853754"/>
            <a:ext cx="3907393" cy="4077438"/>
          </a:xfrm>
        </p:spPr>
      </p:pic>
      <p:pic>
        <p:nvPicPr>
          <p:cNvPr id="5" name="Picture 4">
            <a:extLst>
              <a:ext uri="{FF2B5EF4-FFF2-40B4-BE49-F238E27FC236}">
                <a16:creationId xmlns:a16="http://schemas.microsoft.com/office/drawing/2014/main" id="{799F92F3-CF48-FBB7-BBF6-90EA67BBB499}"/>
              </a:ext>
            </a:extLst>
          </p:cNvPr>
          <p:cNvPicPr>
            <a:picLocks noChangeAspect="1"/>
          </p:cNvPicPr>
          <p:nvPr/>
        </p:nvPicPr>
        <p:blipFill>
          <a:blip r:embed="rId3"/>
          <a:stretch>
            <a:fillRect/>
          </a:stretch>
        </p:blipFill>
        <p:spPr>
          <a:xfrm>
            <a:off x="6399526" y="1940071"/>
            <a:ext cx="4655328" cy="3904803"/>
          </a:xfrm>
          <a:prstGeom prst="rect">
            <a:avLst/>
          </a:prstGeom>
        </p:spPr>
      </p:pic>
    </p:spTree>
    <p:extLst>
      <p:ext uri="{BB962C8B-B14F-4D97-AF65-F5344CB8AC3E}">
        <p14:creationId xmlns:p14="http://schemas.microsoft.com/office/powerpoint/2010/main" val="1529288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C963-2C02-441D-EA5F-7968CC022A18}"/>
              </a:ext>
            </a:extLst>
          </p:cNvPr>
          <p:cNvSpPr>
            <a:spLocks noGrp="1"/>
          </p:cNvSpPr>
          <p:nvPr>
            <p:ph type="title"/>
          </p:nvPr>
        </p:nvSpPr>
        <p:spPr/>
        <p:txBody>
          <a:bodyPr/>
          <a:lstStyle/>
          <a:p>
            <a:endParaRPr lang="en-US"/>
          </a:p>
        </p:txBody>
      </p:sp>
      <p:pic>
        <p:nvPicPr>
          <p:cNvPr id="10" name="Content Placeholder 9">
            <a:extLst>
              <a:ext uri="{FF2B5EF4-FFF2-40B4-BE49-F238E27FC236}">
                <a16:creationId xmlns:a16="http://schemas.microsoft.com/office/drawing/2014/main" id="{8C904895-7567-0362-53AB-BF3F906701B2}"/>
              </a:ext>
            </a:extLst>
          </p:cNvPr>
          <p:cNvPicPr>
            <a:picLocks noGrp="1" noChangeAspect="1"/>
          </p:cNvPicPr>
          <p:nvPr>
            <p:ph idx="1"/>
          </p:nvPr>
        </p:nvPicPr>
        <p:blipFill>
          <a:blip r:embed="rId2"/>
          <a:stretch>
            <a:fillRect/>
          </a:stretch>
        </p:blipFill>
        <p:spPr>
          <a:xfrm>
            <a:off x="4620189" y="2016125"/>
            <a:ext cx="3822369" cy="4037356"/>
          </a:xfrm>
        </p:spPr>
      </p:pic>
    </p:spTree>
    <p:extLst>
      <p:ext uri="{BB962C8B-B14F-4D97-AF65-F5344CB8AC3E}">
        <p14:creationId xmlns:p14="http://schemas.microsoft.com/office/powerpoint/2010/main" val="3133962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93DB2-F44A-F2B4-2140-16D0BC825F34}"/>
              </a:ext>
            </a:extLst>
          </p:cNvPr>
          <p:cNvSpPr>
            <a:spLocks noGrp="1"/>
          </p:cNvSpPr>
          <p:nvPr>
            <p:ph type="title"/>
          </p:nvPr>
        </p:nvSpPr>
        <p:spPr/>
        <p:txBody>
          <a:bodyPr/>
          <a:lstStyle/>
          <a:p>
            <a:r>
              <a:rPr lang="en-IN" b="1" dirty="0"/>
              <a:t>Conclusion </a:t>
            </a:r>
            <a:br>
              <a:rPr lang="en-IN" b="1" dirty="0"/>
            </a:br>
            <a:endParaRPr lang="en-US" b="1" dirty="0"/>
          </a:p>
        </p:txBody>
      </p:sp>
      <p:sp>
        <p:nvSpPr>
          <p:cNvPr id="3" name="Content Placeholder 2">
            <a:extLst>
              <a:ext uri="{FF2B5EF4-FFF2-40B4-BE49-F238E27FC236}">
                <a16:creationId xmlns:a16="http://schemas.microsoft.com/office/drawing/2014/main" id="{4ACB71DF-64DE-4F44-3F0A-34FEC190E116}"/>
              </a:ext>
            </a:extLst>
          </p:cNvPr>
          <p:cNvSpPr>
            <a:spLocks noGrp="1"/>
          </p:cNvSpPr>
          <p:nvPr>
            <p:ph idx="1"/>
          </p:nvPr>
        </p:nvSpPr>
        <p:spPr/>
        <p:txBody>
          <a:bodyPr/>
          <a:lstStyle/>
          <a:p>
            <a:r>
              <a:rPr lang="en-IN" dirty="0"/>
              <a:t> The project demonstrates the effectiveness of various machine learning algorithms in classifying Iris flowers and provides insights into model selection, data </a:t>
            </a:r>
            <a:r>
              <a:rPr lang="en-IN" dirty="0" err="1"/>
              <a:t>preprocessing</a:t>
            </a:r>
            <a:r>
              <a:rPr lang="en-IN" dirty="0"/>
              <a:t>, and evaluation. </a:t>
            </a:r>
            <a:endParaRPr lang="en-US" dirty="0"/>
          </a:p>
        </p:txBody>
      </p:sp>
    </p:spTree>
    <p:extLst>
      <p:ext uri="{BB962C8B-B14F-4D97-AF65-F5344CB8AC3E}">
        <p14:creationId xmlns:p14="http://schemas.microsoft.com/office/powerpoint/2010/main" val="2033557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0BA21-2A23-506F-FBFD-C3E0AF2CC390}"/>
              </a:ext>
            </a:extLst>
          </p:cNvPr>
          <p:cNvSpPr>
            <a:spLocks noGrp="1"/>
          </p:cNvSpPr>
          <p:nvPr>
            <p:ph type="title"/>
          </p:nvPr>
        </p:nvSpPr>
        <p:spPr/>
        <p:txBody>
          <a:bodyPr/>
          <a:lstStyle/>
          <a:p>
            <a:r>
              <a:rPr lang="en-IN" b="1" dirty="0"/>
              <a:t>Future scope </a:t>
            </a:r>
            <a:endParaRPr lang="en-US" b="1" dirty="0"/>
          </a:p>
        </p:txBody>
      </p:sp>
      <p:sp>
        <p:nvSpPr>
          <p:cNvPr id="3" name="Content Placeholder 2">
            <a:extLst>
              <a:ext uri="{FF2B5EF4-FFF2-40B4-BE49-F238E27FC236}">
                <a16:creationId xmlns:a16="http://schemas.microsoft.com/office/drawing/2014/main" id="{B94DAFF6-E05A-5246-7E91-3A68C8A1DBB6}"/>
              </a:ext>
            </a:extLst>
          </p:cNvPr>
          <p:cNvSpPr>
            <a:spLocks noGrp="1"/>
          </p:cNvSpPr>
          <p:nvPr>
            <p:ph idx="1"/>
          </p:nvPr>
        </p:nvSpPr>
        <p:spPr/>
        <p:txBody>
          <a:bodyPr/>
          <a:lstStyle/>
          <a:p>
            <a:r>
              <a:rPr lang="en-IN" dirty="0"/>
              <a:t>The future scope for an Iris classification project lies in expanding its application beyond basic species identification. This includes exploring new machine learning techniques, utilizing more diverse datasets, and integrating the model into practical real-world scenarios. </a:t>
            </a:r>
          </a:p>
          <a:p>
            <a:endParaRPr lang="en-US" dirty="0"/>
          </a:p>
        </p:txBody>
      </p:sp>
    </p:spTree>
    <p:extLst>
      <p:ext uri="{BB962C8B-B14F-4D97-AF65-F5344CB8AC3E}">
        <p14:creationId xmlns:p14="http://schemas.microsoft.com/office/powerpoint/2010/main" val="2979705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7305A-99FC-861F-5530-8DDF8DF68F91}"/>
              </a:ext>
            </a:extLst>
          </p:cNvPr>
          <p:cNvSpPr>
            <a:spLocks noGrp="1"/>
          </p:cNvSpPr>
          <p:nvPr>
            <p:ph type="title"/>
          </p:nvPr>
        </p:nvSpPr>
        <p:spPr/>
        <p:txBody>
          <a:bodyPr/>
          <a:lstStyle/>
          <a:p>
            <a:r>
              <a:rPr lang="en-IN" b="1" dirty="0"/>
              <a:t>Thank you </a:t>
            </a:r>
            <a:br>
              <a:rPr lang="en-IN" b="1" dirty="0"/>
            </a:br>
            <a:endParaRPr lang="en-US" b="1" dirty="0"/>
          </a:p>
        </p:txBody>
      </p:sp>
    </p:spTree>
    <p:extLst>
      <p:ext uri="{BB962C8B-B14F-4D97-AF65-F5344CB8AC3E}">
        <p14:creationId xmlns:p14="http://schemas.microsoft.com/office/powerpoint/2010/main" val="157390435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1</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Gallery</vt:lpstr>
      <vt:lpstr>Iris flower classification model </vt:lpstr>
      <vt:lpstr>OUTLINE </vt:lpstr>
      <vt:lpstr>PowerPoint Presentation</vt:lpstr>
      <vt:lpstr> INTRODUCTION  </vt:lpstr>
      <vt:lpstr>DATA SET </vt:lpstr>
      <vt:lpstr>PowerPoint Presentation</vt:lpstr>
      <vt:lpstr>PowerPoint Presentation</vt:lpstr>
      <vt:lpstr>Proposed system </vt:lpstr>
      <vt:lpstr>System approach </vt:lpstr>
      <vt:lpstr>Classification model </vt:lpstr>
      <vt:lpstr>Algorithms and deployment </vt:lpstr>
      <vt:lpstr>Code </vt:lpstr>
      <vt:lpstr>PowerPoint Presentation</vt:lpstr>
      <vt:lpstr>PowerPoint Presentation</vt:lpstr>
      <vt:lpstr> RESULT</vt:lpstr>
      <vt:lpstr>PowerPoint Presentation</vt:lpstr>
      <vt:lpstr>PowerPoint Presentation</vt:lpstr>
      <vt:lpstr>PowerPoint Presentation</vt:lpstr>
      <vt:lpstr>PowerPoint Presentation</vt:lpstr>
      <vt:lpstr>PowerPoint Presentation</vt:lpstr>
      <vt:lpstr>Conclusion  </vt:lpstr>
      <vt:lpstr>Future scope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Iris flower classification model </dc:title>
  <dc:creator>Durga prasad Annamdevula</dc:creator>
  <cp:lastModifiedBy>Durga prasad Annamdevula</cp:lastModifiedBy>
  <cp:revision>38</cp:revision>
  <dcterms:created xsi:type="dcterms:W3CDTF">2025-05-03T02:37:12Z</dcterms:created>
  <dcterms:modified xsi:type="dcterms:W3CDTF">2026-06-21T14:36:51Z</dcterms:modified>
</cp:coreProperties>
</file>